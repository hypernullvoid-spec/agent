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Cambria"/>
              </a:rPr>
              <a:t>NEO-V2</a:t>
            </a:r>
          </a:p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CADCFC"/>
                </a:solidFill>
                <a:latin typeface="Calibri"/>
              </a:rPr>
              <a:t>Autonomous ML Engineering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CADCFC"/>
                </a:solidFill>
                <a:latin typeface="Calibri"/>
              </a:rPr>
              <a:t>Team onboarding — architecture, workflows, roadmap, and how we'll build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FA3D9"/>
                </a:solidFill>
                <a:latin typeface="Calibri"/>
              </a:rPr>
              <a:t>Engineering · July 2026 · Companion to the Design Document (docs/)</a:t>
            </a:r>
          </a:p>
        </p:txBody>
      </p:sp>
      <p:sp>
        <p:nvSpPr>
          <p:cNvPr id="5" name="Oval 4"/>
          <p:cNvSpPr/>
          <p:nvPr/>
        </p:nvSpPr>
        <p:spPr>
          <a:xfrm>
            <a:off x="9692640" y="914400"/>
            <a:ext cx="457200" cy="457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0332720" y="13716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73152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What is Neo-v2?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04752"/>
                </a:solidFill>
                <a:latin typeface="Calibri"/>
              </a:rPr>
              <a:t>Give it a goal in plain English plus your data. </a:t>
            </a:r>
            <a:r>
              <a:rPr sz="1600" b="0">
                <a:solidFill>
                  <a:srgbClr val="404752"/>
                </a:solidFill>
                <a:latin typeface="Calibri"/>
              </a:rPr>
              <a:t>It plans, writes code, runs it in a sandbox, reads the results, fixes its own failures, and iterates until done — producing real artifacts: scripts, models, reports, plots,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“Analyse sales.csv — what drives revenue?”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04752"/>
                </a:solidFill>
                <a:latin typeface="Calibri"/>
              </a:rPr>
              <a:t>EDA in the sandbox: validation, profiling, correlations, plots + a written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10312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“Train the best churn model (AUC)”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04752"/>
                </a:solidFill>
                <a:latin typeface="Calibri"/>
              </a:rPr>
              <a:t>Solution tree search: drafts, executes, debugs, improves — returns best_solution.py +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“Package the winner as an API”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04752"/>
                </a:solidFill>
                <a:latin typeface="Calibri"/>
              </a:rPr>
              <a:t>FastAPI service with /predict, requirements.txt, Dockerfile — ready to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416052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“Fix my failing training pipeline”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04752"/>
                </a:solidFill>
                <a:latin typeface="Calibri"/>
              </a:rPr>
              <a:t>Indexes the repo (RAG), finds the fault, edits, reruns, self-corrects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Why this project — the benchmark we're chasing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752"/>
                </a:solidFill>
                <a:latin typeface="Calibri"/>
              </a:rPr>
              <a:t>Neo (heyneo.com) is #1 on MLE-bench — OpenAI's benchmark of 75 real Kaggle competitions solved end-to-end. Our goal: match, then beat, the state of the art. The lesson from the leaderboard: winners are systematic experimenters, not smarter chatbots.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28600" bIns="91440"/>
          <a:lstStyle/>
          <a:p>
            <a:pPr algn="ctr">
              <a:spcAft>
                <a:spcPts val="1000"/>
              </a:spcAft>
            </a:pPr>
            <a:r>
              <a:rPr sz="5400" b="1" i="0">
                <a:solidFill>
                  <a:srgbClr val="F2B705"/>
                </a:solidFill>
                <a:latin typeface="Cambria"/>
              </a:rPr>
              <a:t>34.2%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Neo's #1 MLE-bench score (Aug 2025) — the bar to beat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65176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28600" bIns="91440"/>
          <a:lstStyle/>
          <a:p>
            <a:pPr algn="ctr">
              <a:spcAft>
                <a:spcPts val="1000"/>
              </a:spcAft>
            </a:pPr>
            <a:r>
              <a:rPr sz="5400" b="1" i="0">
                <a:solidFill>
                  <a:srgbClr val="CADCFC"/>
                </a:solidFill>
                <a:latin typeface="Cambria"/>
              </a:rPr>
              <a:t>75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Kaggle competitions in the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65176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28600" bIns="91440"/>
          <a:lstStyle/>
          <a:p>
            <a:pPr algn="ctr">
              <a:spcAft>
                <a:spcPts val="1000"/>
              </a:spcAft>
            </a:pPr>
            <a:r>
              <a:rPr sz="5400" b="1" i="0">
                <a:solidFill>
                  <a:srgbClr val="02C39A"/>
                </a:solidFill>
                <a:latin typeface="Cambria"/>
              </a:rPr>
              <a:t>46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tools in our agent's registry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265176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28600" bIns="91440"/>
          <a:lstStyle/>
          <a:p>
            <a:pPr algn="ctr">
              <a:spcAft>
                <a:spcPts val="1000"/>
              </a:spcAft>
            </a:pPr>
            <a:r>
              <a:rPr sz="5400" b="1" i="0">
                <a:solidFill>
                  <a:srgbClr val="CADCFC"/>
                </a:solidFill>
                <a:latin typeface="Cambria"/>
              </a:rPr>
              <a:t>31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offline tests — no API key needed to develop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7A8494"/>
                </a:solidFill>
                <a:latin typeface="Calibri"/>
              </a:rPr>
              <a:t>Benchmark scores come from compute × iteration × search quality. The v2 architecture gives us the search quality; the roadmap (phases 21-24) adds the compute and iteration.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One agent, two engines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The Generalist — ReAct loop</a:t>
            </a:r>
          </a:p>
          <a:p>
            <a:pPr algn="l">
              <a:spcAft>
                <a:spcPts val="120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Interactive, open-ended engineering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Reason → act → observe, up to 15 iterations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46 registered tools: files, sandbox, RAG, data, training, deployment, MCP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Self-correction with typed error hints (3-strike budget)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Guardrails scan every tool result for prompt injection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Every run traced to sessions/&lt;id&gt;/ for 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28016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The Specialist — solution tree search</a:t>
            </a:r>
          </a:p>
          <a:p>
            <a:pPr algn="l">
              <a:spcAft>
                <a:spcPts val="120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The MLE-bench engine (AIDE-style)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Drafts several complete solutions, executes &amp; scores each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Debugs buggy branches, improves the best (draft→debug→improve)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Dual metric verification: forced review call + printed metric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Budgeted: max steps AND wall-clock; crash-safe journal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Outputs best_solution.py + full experiment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They connect: </a:t>
            </a:r>
            <a:r>
              <a:rPr sz="1400" b="0">
                <a:solidFill>
                  <a:srgbClr val="404752"/>
                </a:solidFill>
                <a:latin typeface="Calibri"/>
              </a:rPr>
              <a:t>the ReAct agent has a solve_ml_task tool — for “build the best model” requests it delegates to the search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3317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High-Level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33832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Seven layers, six principles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Architecture — seven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188720"/>
            <a:ext cx="9784080" cy="658368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50" b="1">
                <a:solidFill>
                  <a:srgbClr val="1E2761"/>
                </a:solidFill>
                <a:latin typeface="Calibri"/>
              </a:rPr>
              <a:t>L6  Interfaces   </a:t>
            </a:r>
            <a:r>
              <a:rPr sz="1300">
                <a:solidFill>
                  <a:srgbClr val="404752"/>
                </a:solidFill>
                <a:latin typeface="Calibri"/>
              </a:rPr>
              <a:t>REPL · `neo` CLI · web dashboard (REST + live websocket)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920240"/>
            <a:ext cx="9784080" cy="658368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50" b="1">
                <a:solidFill>
                  <a:srgbClr val="1E2761"/>
                </a:solidFill>
                <a:latin typeface="Calibri"/>
              </a:rPr>
              <a:t>L5  Orchestration   </a:t>
            </a:r>
            <a:r>
              <a:rPr sz="1300">
                <a:solidFill>
                  <a:srgbClr val="404752"/>
                </a:solidFill>
                <a:latin typeface="Calibri"/>
              </a:rPr>
              <a:t>single agent · multi-agent team (Planner→Coder→Reviewer→Tester)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651760"/>
            <a:ext cx="9784080" cy="658368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L4  Agent core   </a:t>
            </a:r>
            <a:r>
              <a:rPr sz="1300">
                <a:solidFill>
                  <a:srgbClr val="CADCFC"/>
                </a:solidFill>
                <a:latin typeface="Calibri"/>
              </a:rPr>
              <a:t>ReAct loop · TOOL REGISTRY · self-correction · memory ·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383280"/>
            <a:ext cx="9784080" cy="658368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50" b="1">
                <a:solidFill>
                  <a:srgbClr val="F2B705"/>
                </a:solidFill>
                <a:latin typeface="Calibri"/>
              </a:rPr>
              <a:t>L3  Search engine   </a:t>
            </a:r>
            <a:r>
              <a:rPr sz="1300">
                <a:solidFill>
                  <a:srgbClr val="CADCFC"/>
                </a:solidFill>
                <a:latin typeface="Calibri"/>
              </a:rPr>
              <a:t>agent/search/ — draft→debug→improve tree · journal ·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114800"/>
            <a:ext cx="9784080" cy="658368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50" b="1">
                <a:solidFill>
                  <a:srgbClr val="1E2761"/>
                </a:solidFill>
                <a:latin typeface="Calibri"/>
              </a:rPr>
              <a:t>L2  Capabilities   </a:t>
            </a:r>
            <a:r>
              <a:rPr sz="1300">
                <a:solidFill>
                  <a:srgbClr val="404752"/>
                </a:solidFill>
                <a:latin typeface="Calibri"/>
              </a:rPr>
              <a:t>data · features · training · eval · deploy · RAG · MCP · fine-tuning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46320"/>
            <a:ext cx="9784080" cy="658368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L1  LLM layer   </a:t>
            </a:r>
            <a:r>
              <a:rPr sz="1300">
                <a:solidFill>
                  <a:srgbClr val="CADCFC"/>
                </a:solidFill>
                <a:latin typeface="Calibri"/>
              </a:rPr>
              <a:t>BYO-LLM: Anthropic · OpenAI · Ollama · vLLM · Gemini · Groq · mock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577840"/>
            <a:ext cx="9784080" cy="658368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L0  Execution   </a:t>
            </a:r>
            <a:r>
              <a:rPr sz="1300">
                <a:solidFill>
                  <a:srgbClr val="CADCFC"/>
                </a:solidFill>
                <a:latin typeface="Calibri"/>
              </a:rPr>
              <a:t>Docker sandbox ↔ subprocess fallback · timeouts · ExecResult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632764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7A8494"/>
                </a:solidFill>
                <a:latin typeface="Calibri"/>
              </a:rPr>
              <a:t>Highlighted layers are where v2 changed the game — and where most roadmap work lands.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Design principles — read before writing code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94767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Only the tool registry grows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04752"/>
                </a:solidFill>
                <a:latin typeface="Calibri"/>
              </a:rPr>
              <a:t>New capability = new tool + prompt docs. The core loop hasn't changed in 16 phases. Never special-case it.</a:t>
            </a:r>
          </a:p>
        </p:txBody>
      </p:sp>
      <p:sp>
        <p:nvSpPr>
          <p:cNvPr id="5" name="Oval 4"/>
          <p:cNvSpPr/>
          <p:nvPr/>
        </p:nvSpPr>
        <p:spPr>
          <a:xfrm>
            <a:off x="4434840" y="19659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94767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Provider independence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04752"/>
                </a:solidFill>
                <a:latin typeface="Calibri"/>
              </a:rPr>
              <a:t>No module touches a vendor SDK. Everything consumes normalized types from agent/llm/base.py.</a:t>
            </a:r>
          </a:p>
        </p:txBody>
      </p:sp>
      <p:sp>
        <p:nvSpPr>
          <p:cNvPr id="7" name="Oval 6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94767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Graceful degradation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04752"/>
                </a:solidFill>
                <a:latin typeface="Calibri"/>
              </a:rPr>
              <a:t>No Docker → subprocess. Review fails → regex metric. ONNX missing → pickle. Finish degraded, don't crash.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18795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Everything is an artifact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04752"/>
                </a:solidFill>
                <a:latin typeface="Calibri"/>
              </a:rPr>
              <a:t>Session traces, crash-safe journals, markdown reports. Every run is auditable after the fact.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42062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18795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Don't trust self-assessment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04752"/>
                </a:solidFill>
                <a:latin typeface="Calibri"/>
              </a:rPr>
              <a:t>Metrics need two sources: forced structured review + the script's own printed metric. Printed wins.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42062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418795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Shims over rewrites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04752"/>
                </a:solidFill>
                <a:latin typeface="Calibri"/>
              </a:rPr>
              <a:t>v1 APIs still work as thin shims over v2 layers. Refactor the same way — never break callers.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3317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Low-Level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33832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The modules you'll actually open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L1 — the BYO-LLM layer (agent/llm/)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One spec string picks everything:   </a:t>
            </a:r>
            <a:r>
              <a:rPr sz="1900" b="1">
                <a:solidFill>
                  <a:srgbClr val="F2B705"/>
                </a:solidFill>
                <a:latin typeface="Calibri"/>
              </a:rPr>
              <a:t>[provider:]model[@base_url]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146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claude-sonnet-4-6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7A8494"/>
                </a:solidFill>
                <a:latin typeface="Calibri"/>
              </a:rPr>
              <a:t>Anthropic (default) — with prompt caching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5146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openai:gpt-4o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7A8494"/>
                </a:solidFill>
                <a:latin typeface="Calibri"/>
              </a:rPr>
              <a:t>OpenAI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ollama:llama3.1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7A8494"/>
                </a:solidFill>
                <a:latin typeface="Calibri"/>
              </a:rPr>
              <a:t>local Ollama, zero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4290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vllm:Llama-3.1-70B@http://gpu:8000/v1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7A8494"/>
                </a:solidFill>
                <a:latin typeface="Calibri"/>
              </a:rPr>
              <a:t>your GPU 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gemini:gemini-2.5-pro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7A8494"/>
                </a:solidFill>
                <a:latin typeface="Calibri"/>
              </a:rPr>
              <a:t>via OpenAI-compat 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3434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mock:anything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7A8494"/>
                </a:solidFill>
                <a:latin typeface="Calibri"/>
              </a:rPr>
              <a:t>scripted client → offline tests &amp;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752"/>
                </a:solidFill>
                <a:latin typeface="Calibri"/>
              </a:rPr>
              <a:t>Under the hood: normalized TextBlock/ToolUseBlock/LLMResponse types · retries with exponential backoff on 429/5xx/timeouts · per-client token accounting · full Anthropic↔OpenAI message and tool-call translation in openai_client.py (the risk zone — it has dedicated conversion tests).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Add a provider: </a:t>
            </a:r>
            <a:r>
              <a:rPr sz="1400" b="0">
                <a:solidFill>
                  <a:srgbClr val="404752"/>
                </a:solidFill>
                <a:latin typeface="Calibri"/>
              </a:rPr>
              <a:t>subclass BaseLLMClient, implement _call_api() → LLMResponse, register in router.py. Done.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L0 — execution backends (agent/execution.py)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DockerBackend  (when the daemon is up)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Persistent container per session, python:3.11-slim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Workspace bind-mounted at /workspace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2 GB / 2 CPU caps; timeout via daemon-thread join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Isolation for untrusted generated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28016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SubprocessBackend  (universal fallback)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sys.executable — works on Windows/macOS/Linux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Hard wall-clock timeout on every call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cwd = per-run workspace; PYTHONUNBUFFERED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Not isolated — documented trade-off, Docker preferred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Shared contract — ExecResult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752"/>
                </a:solidFill>
                <a:latin typeface="Calibri"/>
              </a:rPr>
              <a:t>output (head+tail truncated to 50k) · exit_code · timed_out · exec_time — the search engine consumes the structured fields; ReAct tools consume .as_text().  Selection: auto-detect via docker ping; force with NEO_SANDBOX=docker|subprocess; default timeout NEO_EXEC_TIMEOUT=300s, overridable per call (training needs minutes, previews need seconds).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L3 — the search engine (agent/search/)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journal.py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04752"/>
                </a:solidFill>
                <a:latin typeface="Calibri"/>
              </a:rPr>
              <a:t>The solution tree. Node = one complete script + outcome (metric, is_buggy, term_out). Saved to JSON after EVERY step — crash-safe.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32588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agent.py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04752"/>
                </a:solidFill>
                <a:latin typeface="Calibri"/>
              </a:rPr>
              <a:t>Policy: draft until 4 roots → debug buggy leaves (p=0.5, depth ≤3) → improve the best. Review: forced tool call {is_bug, summary, metric, lower_is_better}.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32588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runner.py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04752"/>
                </a:solidFill>
                <a:latin typeface="Calibri"/>
              </a:rPr>
              <a:t>Budgets the loop (steps + wall-clock), preps runs/&lt;id&gt;/workspace with data at ./input, clamps per-node timeout to remaining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033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data_preview.py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04752"/>
                </a:solidFill>
                <a:latin typeface="Calibri"/>
              </a:rPr>
              <a:t>File tree + CSV dtypes/heads injected into every draft prompt — generated code targets real columns, not hallucinated 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033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report.py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04752"/>
                </a:solidFill>
                <a:latin typeface="Calibri"/>
              </a:rPr>
              <a:t>Deterministic report.md: ASCII tree, metric history, failure analysis. No LLM call — reports never 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7033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config.py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04752"/>
                </a:solidFill>
                <a:latin typeface="Calibri"/>
              </a:rPr>
              <a:t>SearchConfig: steps, time limit, drafts, debug prob, models. Code LLM hot (0.7); feedback LLM cold (0.2).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Entry points: </a:t>
            </a:r>
            <a:r>
              <a:rPr sz="1400" b="0">
                <a:solidFill>
                  <a:srgbClr val="404752"/>
                </a:solidFill>
                <a:latin typeface="Calibri"/>
              </a:rPr>
              <a:t>neo solve "task" --data ./dir   ·   solve_ml_task tool   ·   run_search() in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3317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33832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What actually happens when a user hits enter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Workflow A — “analyse this dataset”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44168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User prompt + data — </a:t>
            </a:r>
            <a:r>
              <a:rPr sz="1500" b="0">
                <a:solidFill>
                  <a:srgbClr val="404752"/>
                </a:solidFill>
                <a:latin typeface="Calibri"/>
              </a:rPr>
              <a:t>“Here's sales.csv — what drives revenue?” → AgentLoop.run(), session opened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956816"/>
            <a:ext cx="0" cy="384048"/>
          </a:xfrm>
          <a:prstGeom prst="line">
            <a:avLst/>
          </a:prstGeom>
          <a:ln w="3175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22960" y="235915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3172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Plan + first tools — </a:t>
            </a:r>
            <a:r>
              <a:rPr sz="1500" b="0">
                <a:solidFill>
                  <a:srgbClr val="404752"/>
                </a:solidFill>
                <a:latin typeface="Calibri"/>
              </a:rPr>
              <a:t>LLM plans, calls load_csv → validate_dataset (nulls, dupes, outliers)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944368"/>
            <a:ext cx="0" cy="384048"/>
          </a:xfrm>
          <a:prstGeom prst="line">
            <a:avLst/>
          </a:prstGeom>
          <a:ln w="3175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2960" y="3346704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19272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Profile + explore — </a:t>
            </a:r>
            <a:r>
              <a:rPr sz="1500" b="0">
                <a:solidFill>
                  <a:srgbClr val="404752"/>
                </a:solidFill>
                <a:latin typeface="Calibri"/>
              </a:rPr>
              <a:t>profile_features infers column roles; agent writes eda.py, runs it in the sandbox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3931920"/>
            <a:ext cx="0" cy="384048"/>
          </a:xfrm>
          <a:prstGeom prst="line">
            <a:avLst/>
          </a:prstGeom>
          <a:ln w="3175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06824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Self-correct on errors — </a:t>
            </a:r>
            <a:r>
              <a:rPr sz="1500" b="0">
                <a:solidFill>
                  <a:srgbClr val="404752"/>
                </a:solidFill>
                <a:latin typeface="Calibri"/>
              </a:rPr>
              <a:t>Failures come back with typed hints; 3 consecutive errors abort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4919472"/>
            <a:ext cx="0" cy="384048"/>
          </a:xfrm>
          <a:prstGeom prst="line">
            <a:avLst/>
          </a:prstGeom>
          <a:ln w="3175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2960" y="5321808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94376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Finish with artifacts — </a:t>
            </a:r>
            <a:r>
              <a:rPr sz="1500" b="0">
                <a:solidFill>
                  <a:srgbClr val="404752"/>
                </a:solidFill>
                <a:latin typeface="Calibri"/>
              </a:rPr>
              <a:t>finish_task → narrated findings, plots in workspace/plots/, full session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Workflow B — “train the best model” (tree search)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760720" cy="50292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Each step of the loop (×20 or until time is up)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POLICY   </a:t>
            </a:r>
            <a:r>
              <a:rPr sz="1300" b="0">
                <a:solidFill>
                  <a:srgbClr val="404752"/>
                </a:solidFill>
                <a:latin typeface="Calibri"/>
              </a:rPr>
              <a:t>drafts &lt; 4 → DRAFT · buggy leaf (p=.5) → DEBUG · else → IMPROVE best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CODE LLM   </a:t>
            </a:r>
            <a:r>
              <a:rPr sz="1300" b="0">
                <a:solidFill>
                  <a:srgbClr val="404752"/>
                </a:solidFill>
                <a:latin typeface="Calibri"/>
              </a:rPr>
              <a:t>temp 0.7 → plan + ONE complete script (reads ./input, prints 'Final Validation Metric:')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EXECUTE   </a:t>
            </a:r>
            <a:r>
              <a:rPr sz="1300" b="0">
                <a:solidFill>
                  <a:srgbClr val="404752"/>
                </a:solidFill>
                <a:latin typeface="Calibri"/>
              </a:rPr>
              <a:t>sandbox, timeout = min(per-node, remaining wall budget)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REVIEW   </a:t>
            </a:r>
            <a:r>
              <a:rPr sz="1300" b="0">
                <a:solidFill>
                  <a:srgbClr val="404752"/>
                </a:solidFill>
                <a:latin typeface="Calibri"/>
              </a:rPr>
              <a:t>cold feedback LLM, forced tool call → {is_bug, metric, direction}; printed metric wins disputes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JOURNAL   </a:t>
            </a:r>
            <a:r>
              <a:rPr sz="1300" b="0">
                <a:solidFill>
                  <a:srgbClr val="404752"/>
                </a:solidFill>
                <a:latin typeface="Calibri"/>
              </a:rPr>
              <a:t>node appended to the tree; journal.json saved (crash-safe)</a:t>
            </a:r>
          </a:p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7A8494"/>
                </a:solidFill>
                <a:latin typeface="Calibri"/>
              </a:rPr>
              <a:t>Setup: runs/&lt;id&gt;/workspace, data copied to ./input, backend picked, data preview built.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28016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 real solution tree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├─ </a:t>
            </a:r>
            <a:r>
              <a:rPr sz="1400" b="1">
                <a:solidFill>
                  <a:srgbClr val="FFFFFF"/>
                </a:solidFill>
                <a:latin typeface="Calibri"/>
              </a:rPr>
              <a:t>draft #0  </a:t>
            </a:r>
            <a:r>
              <a:rPr sz="1400" b="0">
                <a:solidFill>
                  <a:srgbClr val="CADCFC"/>
                </a:solidFill>
                <a:latin typeface="Calibri"/>
              </a:rPr>
              <a:t>crashed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      └─ </a:t>
            </a:r>
            <a:r>
              <a:rPr sz="1400" b="1">
                <a:solidFill>
                  <a:srgbClr val="FFFFFF"/>
                </a:solidFill>
                <a:latin typeface="Calibri"/>
              </a:rPr>
              <a:t>debug #4  </a:t>
            </a:r>
            <a:r>
              <a:rPr sz="1400" b="0">
                <a:solidFill>
                  <a:srgbClr val="FFFFFF"/>
                </a:solidFill>
                <a:latin typeface="Calibri"/>
              </a:rPr>
              <a:t>metric 0.81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├─ </a:t>
            </a:r>
            <a:r>
              <a:rPr sz="1400" b="1">
                <a:solidFill>
                  <a:srgbClr val="FFFFFF"/>
                </a:solidFill>
                <a:latin typeface="Calibri"/>
              </a:rPr>
              <a:t>draft #1  </a:t>
            </a:r>
            <a:r>
              <a:rPr sz="1400" b="0">
                <a:solidFill>
                  <a:srgbClr val="FFFFFF"/>
                </a:solidFill>
                <a:latin typeface="Calibri"/>
              </a:rPr>
              <a:t>metric 0.84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      └─ </a:t>
            </a:r>
            <a:r>
              <a:rPr sz="1400" b="1">
                <a:solidFill>
                  <a:srgbClr val="FFFFFF"/>
                </a:solidFill>
                <a:latin typeface="Calibri"/>
              </a:rPr>
              <a:t>improve #5  </a:t>
            </a:r>
            <a:r>
              <a:rPr sz="1400" b="1">
                <a:solidFill>
                  <a:srgbClr val="F2B705"/>
                </a:solidFill>
                <a:latin typeface="Calibri"/>
              </a:rPr>
              <a:t>metric 0.87  ★ BEST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├─ </a:t>
            </a:r>
            <a:r>
              <a:rPr sz="1400" b="1">
                <a:solidFill>
                  <a:srgbClr val="FFFFFF"/>
                </a:solidFill>
                <a:latin typeface="Calibri"/>
              </a:rPr>
              <a:t>draft #2  </a:t>
            </a:r>
            <a:r>
              <a:rPr sz="1400" b="0">
                <a:solidFill>
                  <a:srgbClr val="FFFFFF"/>
                </a:solidFill>
                <a:latin typeface="Calibri"/>
              </a:rPr>
              <a:t>metric 0.79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├─ </a:t>
            </a:r>
            <a:r>
              <a:rPr sz="1400" b="1">
                <a:solidFill>
                  <a:srgbClr val="FFFFFF"/>
                </a:solidFill>
                <a:latin typeface="Calibri"/>
              </a:rPr>
              <a:t>draft #3  </a:t>
            </a:r>
            <a:r>
              <a:rPr sz="1400" b="0">
                <a:solidFill>
                  <a:srgbClr val="CADCFC"/>
                </a:solidFill>
                <a:latin typeface="Calibri"/>
              </a:rPr>
              <a:t>crashed</a:t>
            </a:r>
          </a:p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CADCFC"/>
                </a:solidFill>
                <a:latin typeface="Calibri"/>
              </a:rPr>
              <a:t>Output: best_solution.py + report.md with the tree, metric history and failure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How failure is handled — it's a feature, not an exception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Detect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ExecResult carries exit_code ≠ 0 or timed_out. No exceptions swallowed; stderr captured in full (tail preserved by truncation).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630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React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ReAct: typed error hint injected, 3-strike budget.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Search: node marked buggy with root-cause summary; policy later spawns a debug child (max 3 fix generations per branch).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4630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2B705"/>
                </a:solidFill>
                <a:latin typeface="Cambria"/>
              </a:rPr>
              <a:t>Learn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Failures are never deleted. They live in the trace / journal and are summarised into future prompts — the same mistake isn't repeated.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1">
                <a:solidFill>
                  <a:srgbClr val="7A8494"/>
                </a:solidFill>
                <a:latin typeface="Calibri"/>
              </a:rPr>
              <a:t>This loop — detect, react, learn — is why the agent converges instead of wandering. Protect it in every code review: anything that hides an error breaks the whole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3317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Features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33832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What's shipped, what's next, and why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Shipped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Autonomous solving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04752"/>
                </a:solidFill>
                <a:latin typeface="Calibri"/>
              </a:rPr>
              <a:t>Tree search + budgets + crash-safe journal + reports + `neo solve`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8016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Agent core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04752"/>
                </a:solidFill>
                <a:latin typeface="Calibri"/>
              </a:rPr>
              <a:t>ReAct loop · 46 tools · self-correction · memory/recall · injection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BYO-LLM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04752"/>
                </a:solidFill>
                <a:latin typeface="Calibri"/>
              </a:rPr>
              <a:t>7+ providers · retries · token accounting · prompt caching · offline mock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5146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Execution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04752"/>
                </a:solidFill>
                <a:latin typeface="Calibri"/>
              </a:rPr>
              <a:t>Docker + subprocess fallback · per-call timeouts · structured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Data &amp; ML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04752"/>
                </a:solidFill>
                <a:latin typeface="Calibri"/>
              </a:rPr>
              <a:t>Ingestion/validation · feature engineering · training leaderboard · Optuna · eval + plots · API packaging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7490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Knowledge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04752"/>
                </a:solidFill>
                <a:latin typeface="Calibri"/>
              </a:rPr>
              <a:t>Repo-RAG · multimodal RAG (PDF/image/audio) · MCP auto-registration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Interfaces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04752"/>
                </a:solidFill>
                <a:latin typeface="Calibri"/>
              </a:rPr>
              <a:t>REPL · `neo` CLI · dashboard with live websocket + runs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9834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Quality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04752"/>
                </a:solidFill>
                <a:latin typeface="Calibri"/>
              </a:rPr>
              <a:t>31 offline tests · zero-dependency runner · e2e with real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Roadmap — the features that beat the benchmark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Parallel search workers  </a:t>
            </a:r>
            <a:r>
              <a:rPr sz="1350" b="1">
                <a:solidFill>
                  <a:srgbClr val="F2B705"/>
                </a:solidFill>
                <a:latin typeface="Calibri"/>
              </a:rPr>
              <a:t>P21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ADCFC"/>
                </a:solidFill>
                <a:latin typeface="Calibri"/>
              </a:rPr>
              <a:t>k nodes evaluated concurrently → 3-5× more experiments per hour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32588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Ensembling stage  </a:t>
            </a:r>
            <a:r>
              <a:rPr sz="1350" b="1">
                <a:solidFill>
                  <a:srgbClr val="F2B705"/>
                </a:solidFill>
                <a:latin typeface="Calibri"/>
              </a:rPr>
              <a:t>P21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ADCFC"/>
                </a:solidFill>
                <a:latin typeface="Calibri"/>
              </a:rPr>
              <a:t>combine top-k solutions; classic +1-3% on tabular/vision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32588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Cross-task insight memory  </a:t>
            </a:r>
            <a:r>
              <a:rPr sz="1350" b="1">
                <a:solidFill>
                  <a:srgbClr val="F2B705"/>
                </a:solidFill>
                <a:latin typeface="Calibri"/>
              </a:rPr>
              <a:t>P21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ADCFC"/>
                </a:solidFill>
                <a:latin typeface="Calibri"/>
              </a:rPr>
              <a:t>retrieve winning approaches from past runs into draft prompts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MLE-bench harness  </a:t>
            </a:r>
            <a:r>
              <a:rPr sz="1350" b="1">
                <a:solidFill>
                  <a:srgbClr val="F2B705"/>
                </a:solidFill>
                <a:latin typeface="Calibri"/>
              </a:rPr>
              <a:t>P22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ADCFC"/>
                </a:solidFill>
                <a:latin typeface="Calibri"/>
              </a:rPr>
              <a:t>run the real benchmark nightly with official grading + CI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9718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GPU / remote execution  </a:t>
            </a:r>
            <a:r>
              <a:rPr sz="1350" b="1">
                <a:solidFill>
                  <a:srgbClr val="F2B705"/>
                </a:solidFill>
                <a:latin typeface="Calibri"/>
              </a:rPr>
              <a:t>P22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ADCFC"/>
                </a:solidFill>
                <a:latin typeface="Calibri"/>
              </a:rPr>
              <a:t>Ray/SSH backends behind the same interface; unlocks DL competitions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9718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Interactive steering  </a:t>
            </a:r>
            <a:r>
              <a:rPr sz="1350" b="1">
                <a:solidFill>
                  <a:srgbClr val="02C39A"/>
                </a:solidFill>
                <a:latin typeface="Calibri"/>
              </a:rPr>
              <a:t>P23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04752"/>
                </a:solidFill>
                <a:latin typeface="Calibri"/>
              </a:rPr>
              <a:t>chat with a running search: constraints, pause/resume, kill branches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1772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Experiment versioning  </a:t>
            </a:r>
            <a:r>
              <a:rPr sz="1350" b="1">
                <a:solidFill>
                  <a:srgbClr val="02C39A"/>
                </a:solidFill>
                <a:latin typeface="Calibri"/>
              </a:rPr>
              <a:t>P23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04752"/>
                </a:solidFill>
                <a:latin typeface="Calibri"/>
              </a:rPr>
              <a:t>lineage, `neo replay`, promote-to-staging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61772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Richer UI + IDE extension  </a:t>
            </a:r>
            <a:r>
              <a:rPr sz="1350" b="1">
                <a:solidFill>
                  <a:srgbClr val="02C39A"/>
                </a:solidFill>
                <a:latin typeface="Calibri"/>
              </a:rPr>
              <a:t>P23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04752"/>
                </a:solidFill>
                <a:latin typeface="Calibri"/>
              </a:rPr>
              <a:t>tree visualiser, live metric charts, VS Code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61772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Hardening &amp; multi-user  </a:t>
            </a:r>
            <a:r>
              <a:rPr sz="1350" b="1">
                <a:solidFill>
                  <a:srgbClr val="02C39A"/>
                </a:solidFill>
                <a:latin typeface="Calibri"/>
              </a:rPr>
              <a:t>P24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04752"/>
                </a:solidFill>
                <a:latin typeface="Calibri"/>
              </a:rPr>
              <a:t>SSO, quotas, sandbox network policy, secret redaction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How it's built — six stages, 24 phases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80744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1325880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Foundation   </a:t>
            </a:r>
            <a:r>
              <a:rPr sz="1350" b="0">
                <a:solidFill>
                  <a:srgbClr val="404752"/>
                </a:solidFill>
                <a:latin typeface="Calibri"/>
              </a:rPr>
              <a:t>Ph 1-5 · loop, registry, sandbox, RAG, self-correction,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49047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DONE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21992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2167128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ML pipeline   </a:t>
            </a:r>
            <a:r>
              <a:rPr sz="1350" b="0">
                <a:solidFill>
                  <a:srgbClr val="404752"/>
                </a:solidFill>
                <a:latin typeface="Calibri"/>
              </a:rPr>
              <a:t>Ph 6-10 · data → features → training/HPO → eval →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23317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DONE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324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3008376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Advanced agentic   </a:t>
            </a:r>
            <a:r>
              <a:rPr sz="1350" b="0">
                <a:solidFill>
                  <a:srgbClr val="404752"/>
                </a:solidFill>
                <a:latin typeface="Calibri"/>
              </a:rPr>
              <a:t>Ph 11-15 · multi-agent, MCP, multimodal RAG, fine-tuning,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31729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DONE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04488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3849624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Interfaces   </a:t>
            </a:r>
            <a:r>
              <a:rPr sz="1350" b="0">
                <a:solidFill>
                  <a:srgbClr val="404752"/>
                </a:solidFill>
                <a:latin typeface="Calibri"/>
              </a:rPr>
              <a:t>Ph 16 · CLI + live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401421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DONE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45736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4690872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V2 engine   </a:t>
            </a:r>
            <a:r>
              <a:rPr sz="1350" b="0">
                <a:solidFill>
                  <a:srgbClr val="404752"/>
                </a:solidFill>
                <a:latin typeface="Calibri"/>
              </a:rPr>
              <a:t>Ph 17-20 · BYO-LLM, execution backends, TREE SEARCH,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485546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DONE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586984"/>
            <a:ext cx="566928" cy="56692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5532120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Benchmark &amp; product   </a:t>
            </a:r>
            <a:r>
              <a:rPr sz="1350" b="0">
                <a:solidFill>
                  <a:srgbClr val="CADCFC"/>
                </a:solidFill>
                <a:latin typeface="Calibri"/>
              </a:rPr>
              <a:t>Ph 21-24 · parallelism, MLE-bench + GPU, steering + UI,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569671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1908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A8494"/>
                </a:solidFill>
                <a:latin typeface="Calibri"/>
              </a:rPr>
              <a:t>Every phase follows the same contract: add tools/config on top of the unchanged core loop, ship with verification, update prompts.py.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Stage 6 execution plans — what your team builds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394960" cy="2395728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P21 · Parallel + ensemble + memory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Build: </a:t>
            </a:r>
            <a:r>
              <a:rPr sz="1150" b="0">
                <a:solidFill>
                  <a:srgbClr val="404752"/>
                </a:solidFill>
                <a:latin typeface="Calibri"/>
              </a:rPr>
              <a:t>Worker pool in runner.py (propose batch → execute parallel → review serial) · ensemble stage over top-k · insight bank retrieved into drafts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2B705"/>
                </a:solidFill>
                <a:latin typeface="Calibri"/>
              </a:rPr>
              <a:t>Care: </a:t>
            </a:r>
            <a:r>
              <a:rPr sz="1150" b="0">
                <a:solidFill>
                  <a:srgbClr val="404752"/>
                </a:solidFill>
                <a:latin typeface="Calibri"/>
              </a:rPr>
              <a:t>Journal is shared state: one lock, serialized appends. Budget = wall-clock, not sum of node times. Only ensemble identical validation protocols.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94960" cy="2395728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P22 · MLE-bench + GPU backends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Build: </a:t>
            </a:r>
            <a:r>
              <a:rPr sz="1150" b="0">
                <a:solidFill>
                  <a:srgbClr val="404752"/>
                </a:solidFill>
                <a:latin typeface="Calibri"/>
              </a:rPr>
              <a:t>bench/ package: task fetcher, per-task container, OFFICIAL grader, leaderboard CI · RemoteBackend (SSH/Ray) behind the ExecutionBackend interface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2B705"/>
                </a:solidFill>
                <a:latin typeface="Calibri"/>
              </a:rPr>
              <a:t>Care: </a:t>
            </a:r>
            <a:r>
              <a:rPr sz="1150" b="0">
                <a:solidFill>
                  <a:srgbClr val="404752"/>
                </a:solidFill>
                <a:latin typeface="Calibri"/>
              </a:rPr>
              <a:t>Never grade with our own reviewer — that's the point. Hard cost caps per run. Layers above L0 must not know it's remote.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5394960" cy="2395728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P23 · Steering + versioning + UI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Build: </a:t>
            </a:r>
            <a:r>
              <a:rPr sz="1150" b="0">
                <a:solidFill>
                  <a:srgbClr val="404752"/>
                </a:solidFill>
                <a:latin typeface="Calibri"/>
              </a:rPr>
              <a:t>Control channel injects user guidance into next prompt build; pause/resume · content-hash artifacts + `neo replay` · D3 tree visualiser over /api/runs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2B705"/>
                </a:solidFill>
                <a:latin typeface="Calibri"/>
              </a:rPr>
              <a:t>Care: </a:t>
            </a:r>
            <a:r>
              <a:rPr sz="1150" b="0">
                <a:solidFill>
                  <a:srgbClr val="404752"/>
                </a:solidFill>
                <a:latin typeface="Calibri"/>
              </a:rPr>
              <a:t>Steering is advisory through prompts — the journal stays the single source of truth. Replay needs package versions pinned at run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840480"/>
            <a:ext cx="5394960" cy="2395728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P24 · Hardening &amp; multi-user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Build: </a:t>
            </a:r>
            <a:r>
              <a:rPr sz="1150" b="0">
                <a:solidFill>
                  <a:srgbClr val="404752"/>
                </a:solidFill>
                <a:latin typeface="Calibri"/>
              </a:rPr>
              <a:t>SSO on dashboard/API · per-user workspaces + token/step/GPU quotas · sandbox network default-deny + wheel proxy · secret redaction in traces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2B705"/>
                </a:solidFill>
                <a:latin typeface="Calibri"/>
              </a:rPr>
              <a:t>Care: </a:t>
            </a:r>
            <a:r>
              <a:rPr sz="1150" b="0">
                <a:solidFill>
                  <a:srgbClr val="404752"/>
                </a:solidFill>
                <a:latin typeface="Calibri"/>
              </a:rPr>
              <a:t>Enforce quotas where counting already exists (LLM client + runner). Redact before persisting, not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Contributing — the three recipes + definition of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 a tool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@tool(description, schema) in tools.py → document in prompts.py → add a test. The loop, CLI, dashboard and team mode pick it up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280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 an LLM provider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Subclass BaseLLMClient in agent/llm/ → implement _call_api() → register in router.py. Nothing outside agent/llm/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280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Improve the search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Policy in choose_action() · prompts in the three builders · scoring in review(). Always run the offline e2e + one paid smoke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86200"/>
            <a:ext cx="11064240" cy="2194560"/>
          </a:xfrm>
          <a:prstGeom prst="roundRect">
            <a:avLst>
              <a:gd name="adj" fmla="val 8000"/>
            </a:avLst>
          </a:prstGeom>
          <a:solidFill>
            <a:srgbClr val="EC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Definition of done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04752"/>
                </a:solidFill>
                <a:latin typeface="Calibri"/>
              </a:rPr>
              <a:t>•  Tests green offline: python tests/run_tests.py (no API key needed — the mock provider covers CI)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04752"/>
                </a:solidFill>
                <a:latin typeface="Calibri"/>
              </a:rPr>
              <a:t>•  prompts.py updated if tools changed · README section updated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04752"/>
                </a:solidFill>
                <a:latin typeface="Calibri"/>
              </a:rPr>
              <a:t>•  One manual end-to-end run of the workflow you touched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04752"/>
                </a:solidFill>
                <a:latin typeface="Calibri"/>
              </a:rPr>
              <a:t>•  Error strings still start with 'Error' (self-correction depends on it) · messages stay Anthropic-shaped outside agent/llm/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04752"/>
                </a:solidFill>
                <a:latin typeface="Calibri"/>
              </a:rPr>
              <a:t>•  No new required dependency without discussion — optional deps are lazy-imported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849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Get running in 15 minutes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0515600" cy="2834640"/>
          </a:xfrm>
          <a:prstGeom prst="roundRect">
            <a:avLst>
              <a:gd name="adj" fmla="val 8000"/>
            </a:avLst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CADCFC"/>
                </a:solidFill>
                <a:latin typeface="Courier New"/>
              </a:rPr>
              <a:t>git clone &lt;repo&gt;  &amp;&amp;  cd neo-v2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CADCFC"/>
                </a:solidFill>
                <a:latin typeface="Courier New"/>
              </a:rPr>
              <a:t>python -m venv .venv  &amp;&amp;  .venv\Scripts\activate      (Windows)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CADCFC"/>
                </a:solidFill>
                <a:latin typeface="Courier New"/>
              </a:rPr>
              <a:t>pip install -r requirements.txt  &amp;&amp;  pip install -e 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CADCFC"/>
                </a:solidFill>
                <a:latin typeface="Courier New"/>
              </a:rPr>
              <a:t>python tests/run_tests.py                    →  31 passed, no API key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CADCFC"/>
                </a:solidFill>
                <a:latin typeface="Courier New"/>
              </a:rPr>
              <a:t>cp .env.example .env                         →  add a key, or NEO_MODEL=ollama:llama3.1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CADCFC"/>
                </a:solidFill>
                <a:latin typeface="Courier New"/>
              </a:rPr>
              <a:t>neo run  "create hello.py"                   →  first agent run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CADCFC"/>
                </a:solidFill>
                <a:latin typeface="Courier New"/>
              </a:rPr>
              <a:t>neo solve "Predict target. Metric: RMSE." -d sample_data -s 8   →  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Then read the Design Document (docs/) sections 3-4 with the repo open, pick a Stage-6 phase, and claim it.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B705"/>
                </a:solidFill>
                <a:latin typeface="Calibri"/>
              </a:rPr>
              <a:t>The benchmark is beatable. The architecture is ready. Let's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