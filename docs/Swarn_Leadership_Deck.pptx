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574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77240" y="331012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 ML engineer that learns from every run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&amp; Leadership Briefing  ·  July 2026  ·  Confidential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420624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2A367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2062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built. 57/57 tests passing. Ready for benchmark validation.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engineering is still a manual, week-long loop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Write, run, read, fix, repeat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hand-drive every experiment: scripts, logs, failures, metrics — for days per model.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70832" y="173736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4645152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agents stop at code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45152" y="28803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Cursor, Claude Code and Codex write scripts but do not own the experiment loop or the outcome metric.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93024" y="173736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EEF3FC"/>
          </a:solidFill>
          <a:ln/>
        </p:spPr>
      </p:sp>
      <p:sp>
        <p:nvSpPr>
          <p:cNvPr id="12" name="Text 10"/>
          <p:cNvSpPr/>
          <p:nvPr/>
        </p:nvSpPr>
        <p:spPr>
          <a:xfrm>
            <a:off x="8467344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does not compound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67344" y="28803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live in people's heads. Every new task, every new hire, starts from zero.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50292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2103120" y="513892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speed-up autonomous ML agents already claim over manual iteration — the category leader markets exactly this number.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MOMENT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is proven — and beatable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HeyNeo ('Neo') validated autonomous ML engineering as a product: paid tiers from $29 to $199/month, enterprise plans, a #1 MLE-Bench claim (34.2%, Aug 2025), and distribution across VS Code, Cursor and Claude Code.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DF0E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engine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one solution at a time — wall-clock is their ceiling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10712" y="274320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DF0EF"/>
          </a:solidFill>
          <a:ln/>
        </p:spPr>
      </p:sp>
      <p:sp>
        <p:nvSpPr>
          <p:cNvPr id="10" name="Text 8"/>
          <p:cNvSpPr/>
          <p:nvPr/>
        </p:nvSpPr>
        <p:spPr>
          <a:xfrm>
            <a:off x="3639312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39312" y="35661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starts cold; nothing learned is reused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72784" y="274320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DF0EF"/>
          </a:solidFill>
          <a:ln/>
        </p:spPr>
      </p:sp>
      <p:sp>
        <p:nvSpPr>
          <p:cNvPr id="13" name="Text 11"/>
          <p:cNvSpPr/>
          <p:nvPr/>
        </p:nvSpPr>
        <p:spPr>
          <a:xfrm>
            <a:off x="6501384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credits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01384" y="35661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Lite/Pro modes and credit burn rates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34856" y="274320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DF0EF"/>
          </a:solidFill>
          <a:ln/>
        </p:spPr>
      </p:sp>
      <p:sp>
        <p:nvSpPr>
          <p:cNvPr id="16" name="Text 14"/>
          <p:cNvSpPr/>
          <p:nvPr/>
        </p:nvSpPr>
        <p:spPr>
          <a:xfrm>
            <a:off x="9363456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resume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63456" y="35661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runs that die must start over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four structural gaps are our four wedges — each is already built into Swarn.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in, the best model out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749808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swarn solve "Predict churn. Metric: AUC." --workers 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743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Previews your data, recalls lessons and similar past wins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10712" y="25146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</p:spPr>
      </p:sp>
      <p:sp>
        <p:nvSpPr>
          <p:cNvPr id="12" name="Shape 10"/>
          <p:cNvSpPr/>
          <p:nvPr/>
        </p:nvSpPr>
        <p:spPr>
          <a:xfrm>
            <a:off x="3639312" y="2743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639312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79392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39312" y="342900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complete competing solutions, runs them in parallel in a sandbox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2784" y="25146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501384" y="2743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501384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141464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01384" y="342900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Debugs failures, improves winners — within explicit time/token budgets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34856" y="25146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</p:spPr>
      </p:sp>
      <p:sp>
        <p:nvSpPr>
          <p:cNvPr id="22" name="Shape 20"/>
          <p:cNvSpPr/>
          <p:nvPr/>
        </p:nvSpPr>
        <p:spPr>
          <a:xfrm>
            <a:off x="9363456" y="2743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363456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003536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363456" y="342900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solution script, full experiment report, and new lessons learned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autonomous, fully inspectable: every attempt is a node in a solution tree you can open, resume, and audit.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1 — Parallel exploration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leader tries one solution at a time. Swarn runs a scheduler that generates, executes and reviews many complete solutions concurrently — same LLM spend, a fraction of the wall time.</a:t>
            </a:r>
            <a:endParaRPr lang="en-US" sz="1550" dirty="0"/>
          </a:p>
        </p:txBody>
      </p:sp>
      <p:pic>
        <p:nvPicPr>
          <p:cNvPr id="6" name="Image 0" descr="/tmp/neodoc/img/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2514600"/>
            <a:ext cx="5852160" cy="3977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0" y="265176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EEF3FC"/>
          </a:solidFill>
          <a:ln/>
        </p:spPr>
      </p:sp>
      <p:sp>
        <p:nvSpPr>
          <p:cNvPr id="8" name="Text 5"/>
          <p:cNvSpPr/>
          <p:nvPr/>
        </p:nvSpPr>
        <p:spPr>
          <a:xfrm>
            <a:off x="8549640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549640" y="37216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solutions in the wall time of one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49640" y="45720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8549640" y="541324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runs wasted on code that cannot run (static gate)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2 — It gets smarter with every run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1000" dirty="0"/>
          </a:p>
        </p:txBody>
      </p:sp>
      <p:pic>
        <p:nvPicPr>
          <p:cNvPr id="5" name="Image 0" descr="/tmp/neodoc/img/selfimpro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640080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06640" y="192024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EEF3FC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compounding moat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680960" y="274320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run, Swarn distills generalizable lessons into a curated playbook and archives the winning approach.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future run starts with that knowledge injected — across users of an installation, across time.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HeyNeo starts every task cold. Our platform's 100th run is better than its 1st — theirs isn't.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3 — Transparency customers can audit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29768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366760" y="16459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HeyNeo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566160" cy="932688"/>
          </a:xfrm>
          <a:prstGeom prst="roundRect">
            <a:avLst>
              <a:gd name="adj" fmla="val 7843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03120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budgets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297680" y="2103120"/>
            <a:ext cx="3931920" cy="932688"/>
          </a:xfrm>
          <a:prstGeom prst="roundRect">
            <a:avLst>
              <a:gd name="adj" fmla="val 7843"/>
            </a:avLst>
          </a:prstGeom>
          <a:solidFill>
            <a:srgbClr val="E8F6EF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103120"/>
            <a:ext cx="3611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Steps, wall-clock and token caps per run — finance-predictable AI spend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366760" y="2103120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F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8549640" y="2103120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'credits'; burn rates undocumented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182112"/>
            <a:ext cx="3566160" cy="932688"/>
          </a:xfrm>
          <a:prstGeom prst="roundRect">
            <a:avLst>
              <a:gd name="adj" fmla="val 7843"/>
            </a:avLst>
          </a:prstGeom>
          <a:solidFill>
            <a:srgbClr val="EEF3F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82112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Resumable runs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297680" y="3182112"/>
            <a:ext cx="3931920" cy="932688"/>
          </a:xfrm>
          <a:prstGeom prst="roundRect">
            <a:avLst>
              <a:gd name="adj" fmla="val 7843"/>
            </a:avLst>
          </a:prstGeom>
          <a:solidFill>
            <a:srgbClr val="E8F6EF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3182112"/>
            <a:ext cx="3611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Crash-safe journal; continue any run — spot-GPU friendly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366760" y="3182112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F3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8549640" y="3182112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Days-long runs restart on failure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261104"/>
            <a:ext cx="3566160" cy="932688"/>
          </a:xfrm>
          <a:prstGeom prst="roundRect">
            <a:avLst>
              <a:gd name="adj" fmla="val 7843"/>
            </a:avLst>
          </a:prstGeom>
          <a:solidFill>
            <a:srgbClr val="EEF3F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261104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+ BYO-LLM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297680" y="4261104"/>
            <a:ext cx="3931920" cy="932688"/>
          </a:xfrm>
          <a:prstGeom prst="roundRect">
            <a:avLst>
              <a:gd name="adj" fmla="val 7843"/>
            </a:avLst>
          </a:prstGeom>
          <a:solidFill>
            <a:srgbClr val="E8F6EF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4261104"/>
            <a:ext cx="3611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on customer infra; any provider incl. self-hosted (zero marginal token cost)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366760" y="4261104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F3F4F6"/>
          </a:solidFill>
          <a:ln/>
        </p:spPr>
      </p:sp>
      <p:sp>
        <p:nvSpPr>
          <p:cNvPr id="24" name="Text 22"/>
          <p:cNvSpPr/>
          <p:nvPr/>
        </p:nvSpPr>
        <p:spPr>
          <a:xfrm>
            <a:off x="8549640" y="4261104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providers; cloud upload caps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340096"/>
            <a:ext cx="3566160" cy="932688"/>
          </a:xfrm>
          <a:prstGeom prst="roundRect">
            <a:avLst>
              <a:gd name="adj" fmla="val 7843"/>
            </a:avLst>
          </a:prstGeom>
          <a:solidFill>
            <a:srgbClr val="EEF3FC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340096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Inspectable artifacts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4297680" y="5340096"/>
            <a:ext cx="3931920" cy="932688"/>
          </a:xfrm>
          <a:prstGeom prst="roundRect">
            <a:avLst>
              <a:gd name="adj" fmla="val 7843"/>
            </a:avLst>
          </a:prstGeom>
          <a:solidFill>
            <a:srgbClr val="E8F6EF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5340096"/>
            <a:ext cx="3611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tree, code, metrics, reports for every run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366760" y="5340096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F3F4F6"/>
          </a:solidFill>
          <a:ln/>
        </p:spPr>
      </p:sp>
      <p:sp>
        <p:nvSpPr>
          <p:cNvPr id="30" name="Text 28"/>
          <p:cNvSpPr/>
          <p:nvPr/>
        </p:nvSpPr>
        <p:spPr>
          <a:xfrm>
            <a:off x="8549640" y="5340096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Artifacts, but tree/policy internals hidden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every ML engineering workload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&amp; AutoML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Churn, fraud, forecasting, anomaly detection on tabular data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17830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4645152" y="2011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evals &amp; benchmarking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45152" y="2651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harnesses, model comparisons, prompt optimization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93024" y="17830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</p:spPr>
      </p:sp>
      <p:sp>
        <p:nvSpPr>
          <p:cNvPr id="12" name="Text 10"/>
          <p:cNvSpPr/>
          <p:nvPr/>
        </p:nvSpPr>
        <p:spPr>
          <a:xfrm>
            <a:off x="8467344" y="2011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67344" y="2651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LoRA/QLoRA domain models, quantized edge exports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776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systems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617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&amp; multimodal RAG (PDF, OCR, audio), retrieval tuning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70832" y="37490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</p:spPr>
      </p:sp>
      <p:sp>
        <p:nvSpPr>
          <p:cNvPr id="18" name="Text 16"/>
          <p:cNvSpPr/>
          <p:nvPr/>
        </p:nvSpPr>
        <p:spPr>
          <a:xfrm>
            <a:off x="4645152" y="39776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pipelines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45152" y="4617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builds, data pipelines, deploy packaging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93024" y="37490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</p:spPr>
      </p:sp>
      <p:sp>
        <p:nvSpPr>
          <p:cNvPr id="21" name="Text 19"/>
          <p:cNvSpPr/>
          <p:nvPr/>
        </p:nvSpPr>
        <p:spPr>
          <a:xfrm>
            <a:off x="8467344" y="39776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&amp; optimize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67344" y="4617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broken training, hunt leakage, speed up inference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continuous engineering: nightly retrains and regression gates driven from CI or any MCP-capable agent.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engineers where they already work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112264" cy="2651760"/>
          </a:xfrm>
          <a:prstGeom prst="roundRect">
            <a:avLst>
              <a:gd name="adj" fmla="val 3463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286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+ REPL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49808" y="30632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Scriptable, CI-ready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" y="4114800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41148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43784" y="2011680"/>
            <a:ext cx="2112264" cy="2651760"/>
          </a:xfrm>
          <a:prstGeom prst="roundRect">
            <a:avLst>
              <a:gd name="adj" fmla="val 3463"/>
            </a:avLst>
          </a:prstGeom>
          <a:solidFill>
            <a:srgbClr val="EEF3FC"/>
          </a:solidFill>
          <a:ln/>
        </p:spPr>
      </p:sp>
      <p:sp>
        <p:nvSpPr>
          <p:cNvPr id="11" name="Text 9"/>
          <p:cNvSpPr/>
          <p:nvPr/>
        </p:nvSpPr>
        <p:spPr>
          <a:xfrm>
            <a:off x="3044952" y="2286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044952" y="30632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runs, solution trees, playbook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044952" y="4114800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3044952" y="41148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38928" y="2011680"/>
            <a:ext cx="2112264" cy="2651760"/>
          </a:xfrm>
          <a:prstGeom prst="roundRect">
            <a:avLst>
              <a:gd name="adj" fmla="val 3463"/>
            </a:avLst>
          </a:prstGeom>
          <a:solidFill>
            <a:srgbClr val="EEF3FC"/>
          </a:solidFill>
          <a:ln/>
        </p:spPr>
      </p:sp>
      <p:sp>
        <p:nvSpPr>
          <p:cNvPr id="16" name="Text 14"/>
          <p:cNvSpPr/>
          <p:nvPr/>
        </p:nvSpPr>
        <p:spPr>
          <a:xfrm>
            <a:off x="5340096" y="2286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340096" y="30632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· Cursor · Windsurf · Zed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340096" y="4114800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5340096" y="41148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34072" y="2011680"/>
            <a:ext cx="2112264" cy="2651760"/>
          </a:xfrm>
          <a:prstGeom prst="roundRect">
            <a:avLst>
              <a:gd name="adj" fmla="val 3463"/>
            </a:avLst>
          </a:prstGeom>
          <a:solidFill>
            <a:srgbClr val="EEF3FC"/>
          </a:solidFill>
          <a:ln/>
        </p:spPr>
      </p:sp>
      <p:sp>
        <p:nvSpPr>
          <p:cNvPr id="21" name="Text 19"/>
          <p:cNvSpPr/>
          <p:nvPr/>
        </p:nvSpPr>
        <p:spPr>
          <a:xfrm>
            <a:off x="7635240" y="2286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extension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635240" y="30632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Cursor sidebar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635240" y="4114800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7635240" y="41148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729216" y="2011680"/>
            <a:ext cx="2112264" cy="2651760"/>
          </a:xfrm>
          <a:prstGeom prst="roundRect">
            <a:avLst>
              <a:gd name="adj" fmla="val 3463"/>
            </a:avLst>
          </a:prstGeom>
          <a:solidFill>
            <a:srgbClr val="EEF3FC"/>
          </a:solidFill>
          <a:ln/>
        </p:spPr>
      </p:sp>
      <p:sp>
        <p:nvSpPr>
          <p:cNvPr id="26" name="Text 24"/>
          <p:cNvSpPr/>
          <p:nvPr/>
        </p:nvSpPr>
        <p:spPr>
          <a:xfrm>
            <a:off x="9930384" y="2286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cloud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930384" y="30632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Zero-setup hosted runs, per-seat billing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930384" y="4114800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9930384" y="41148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server makes every AI coding assistant a distribution channel: their agent delegates ML work to ours.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like a platform, not a demo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1000" dirty="0"/>
          </a:p>
        </p:txBody>
      </p:sp>
      <p:pic>
        <p:nvPicPr>
          <p:cNvPr id="5" name="Image 0" descr="/tmp/neodoc/img/h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649224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2011680"/>
            <a:ext cx="3977640" cy="4114800"/>
          </a:xfrm>
          <a:prstGeom prst="roundRect">
            <a:avLst>
              <a:gd name="adj" fmla="val 1839"/>
            </a:avLst>
          </a:prstGeom>
          <a:solidFill>
            <a:srgbClr val="EEF3FC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posture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909560" y="283464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LLM behind one router — no vendor lock, self-hosting supported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execution with hard timeouts and runaway-kill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degrades gracefully — no single dependency can kill a run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automated tests run the full engine offline in seconds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~10.5k LOC Python, fully owned — no framework risk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go to market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84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budget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validation + demo environments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$15–30k one-time for MLE-Bench-style validation; then usage-priced COGS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EEF3FC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984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cloud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468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use cases + self-hosted code-gen models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0" y="28803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T4/A10G spot for ≤7B LoRA; 1–2 A100/H100 nodes cut token COGS at scale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EEF3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70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infra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4754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Datasets, checkpoints, run artifacts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1663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(GB→TB, lifecycle rules) + CPU VM pool for hosted runs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406908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EEF3FC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270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4754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extension + managed cloud beta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51663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engineers, 8–10 weeks to close both roadmap surfaces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proprietary model training, no Kubernetes, no data lake required for v1 — the engine is local-first by design.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8529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core engine built and working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47472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57/57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474720" y="28529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passing, fully offline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0936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309360" y="28529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 supported day one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9144000" y="28529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surfaces shipped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EEF3F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60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end-to-end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61772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search produces valid, dense solution trees under concurrency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 runs resume exactly where they stopped; token budgets stop runaway spend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Self-improvement cycle proven: run 1 learns a lesson → run 2's prompts carry it automatically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milestone: published MLE-Bench-style results with real frontier models — the marketing centerpiece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launch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0020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331720" y="2240280"/>
            <a:ext cx="2148840" cy="0"/>
          </a:xfrm>
          <a:prstGeom prst="line">
            <a:avLst/>
          </a:prstGeom>
          <a:noFill/>
          <a:ln w="25400">
            <a:solidFill>
              <a:srgbClr val="C7CE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432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validation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77240" y="40233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MLE-Bench-style suite with frontier models; tune policy; publish results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62272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93792" y="2240280"/>
            <a:ext cx="2148840" cy="0"/>
          </a:xfrm>
          <a:prstGeom prst="line">
            <a:avLst/>
          </a:prstGeom>
          <a:noFill/>
          <a:ln w="25400">
            <a:solidFill>
              <a:srgbClr val="C7CE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10712" y="27432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EEF3FC"/>
          </a:solidFill>
          <a:ln/>
        </p:spPr>
      </p:sp>
      <p:sp>
        <p:nvSpPr>
          <p:cNvPr id="16" name="Text 14"/>
          <p:cNvSpPr/>
          <p:nvPr/>
        </p:nvSpPr>
        <p:spPr>
          <a:xfrm>
            <a:off x="3639312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39312" y="3291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extension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639312" y="40233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Code/Cursor sidebar on the shipped MCP server; live tree view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24344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32434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055864" y="2240280"/>
            <a:ext cx="2148840" cy="0"/>
          </a:xfrm>
          <a:prstGeom prst="line">
            <a:avLst/>
          </a:prstGeom>
          <a:noFill/>
          <a:ln w="25400">
            <a:solidFill>
              <a:srgbClr val="C7CE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2784" y="27432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EEF3FC"/>
          </a:solidFill>
          <a:ln/>
        </p:spPr>
      </p:sp>
      <p:sp>
        <p:nvSpPr>
          <p:cNvPr id="23" name="Text 21"/>
          <p:cNvSpPr/>
          <p:nvPr/>
        </p:nvSpPr>
        <p:spPr>
          <a:xfrm>
            <a:off x="6501384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6–12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01384" y="3291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cloud beta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501384" y="40233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run queue, VM pool, artifact downloads, transparent metering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186416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10186416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134856" y="27432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EEF3FC"/>
          </a:solidFill>
          <a:ln/>
        </p:spPr>
      </p:sp>
      <p:sp>
        <p:nvSpPr>
          <p:cNvPr id="29" name="Text 27"/>
          <p:cNvSpPr/>
          <p:nvPr/>
        </p:nvSpPr>
        <p:spPr>
          <a:xfrm>
            <a:off x="9363456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63456" y="3291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hardening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363456" y="40233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vault, isolation, SSO/audit, richer guardrails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031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 ML engineer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compounds.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77240" y="3977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proven by a well-funded incumbent. Engine built and tested. Four structural advantages they cannot patch quickly.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greenlight benchmark validation + 2–3 engineers for the IDE extension and cloud beta.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  ·  July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2026-07-14T11:03:48Z</dcterms:created>
  <dcterms:modified xsi:type="dcterms:W3CDTF">2026-07-14T11:03:48Z</dcterms:modified>
</cp:coreProperties>
</file>